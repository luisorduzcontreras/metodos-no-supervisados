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DM Sans" panose="020B0604020202020204" charset="0"/>
      <p:regular r:id="rId13"/>
    </p:embeddedFont>
    <p:embeddedFont>
      <p:font typeface="DM Sans Bold" panose="020B0604020202020204" charset="0"/>
      <p:regular r:id="rId14"/>
    </p:embeddedFont>
    <p:embeddedFont>
      <p:font typeface="Montaser Arabic" panose="020B0604020202020204" charset="-78"/>
      <p:regular r:id="rId15"/>
    </p:embeddedFont>
    <p:embeddedFont>
      <p:font typeface="Montaser Arabic Bold" panose="020B0604020202020204" charset="-78"/>
      <p:regular r:id="rId16"/>
    </p:embeddedFont>
    <p:embeddedFont>
      <p:font typeface="Montaser Arabic Heavy" panose="020B0604020202020204" charset="-78"/>
      <p:regular r:id="rId17"/>
    </p:embeddedFont>
    <p:embeddedFont>
      <p:font typeface="Montaser Arabic Medium" panose="020B0604020202020204" charset="-78"/>
      <p:regular r:id="rId18"/>
    </p:embeddedFont>
    <p:embeddedFont>
      <p:font typeface="Montaser Arabic Semi-Bold" panose="020B0604020202020204" charset="-78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69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image" Target="../media/image53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181850" y="5353050"/>
            <a:ext cx="3705225" cy="3648075"/>
          </a:xfrm>
          <a:custGeom>
            <a:avLst/>
            <a:gdLst/>
            <a:ahLst/>
            <a:cxnLst/>
            <a:rect l="l" t="t" r="r" b="b"/>
            <a:pathLst>
              <a:path w="3705225" h="3648075">
                <a:moveTo>
                  <a:pt x="0" y="0"/>
                </a:moveTo>
                <a:lnTo>
                  <a:pt x="3705225" y="0"/>
                </a:lnTo>
                <a:lnTo>
                  <a:pt x="37052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82462" y="236517"/>
            <a:ext cx="5886450" cy="3009900"/>
          </a:xfrm>
          <a:custGeom>
            <a:avLst/>
            <a:gdLst/>
            <a:ahLst/>
            <a:cxnLst/>
            <a:rect l="l" t="t" r="r" b="b"/>
            <a:pathLst>
              <a:path w="5886450" h="3009900">
                <a:moveTo>
                  <a:pt x="0" y="0"/>
                </a:moveTo>
                <a:lnTo>
                  <a:pt x="5886450" y="0"/>
                </a:lnTo>
                <a:lnTo>
                  <a:pt x="588645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343256" y="642938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88984" y="3232344"/>
            <a:ext cx="6269004" cy="6669153"/>
          </a:xfrm>
          <a:custGeom>
            <a:avLst/>
            <a:gdLst/>
            <a:ahLst/>
            <a:cxnLst/>
            <a:rect l="l" t="t" r="r" b="b"/>
            <a:pathLst>
              <a:path w="6269004" h="6669153">
                <a:moveTo>
                  <a:pt x="0" y="0"/>
                </a:moveTo>
                <a:lnTo>
                  <a:pt x="6269004" y="0"/>
                </a:lnTo>
                <a:lnTo>
                  <a:pt x="6269004" y="6669153"/>
                </a:lnTo>
                <a:lnTo>
                  <a:pt x="0" y="66691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50976" y="1628775"/>
            <a:ext cx="6711696" cy="3278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59"/>
              </a:lnSpc>
            </a:pPr>
            <a:r>
              <a:rPr lang="en-US" sz="13397" b="1" spc="-401">
                <a:solidFill>
                  <a:srgbClr val="002F5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Más allá del NPS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7552" y="5114925"/>
            <a:ext cx="7114032" cy="1219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3754" b="1">
                <a:solidFill>
                  <a:srgbClr val="28BDE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Exploración de perfiles</a:t>
            </a:r>
          </a:p>
          <a:p>
            <a:pPr algn="l">
              <a:lnSpc>
                <a:spcPts val="4881"/>
              </a:lnSpc>
            </a:pPr>
            <a:r>
              <a:rPr lang="en-US" sz="3754" b="1">
                <a:solidFill>
                  <a:srgbClr val="28BDE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 estudiantes universitarios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7552" y="7469846"/>
            <a:ext cx="4626864" cy="96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797" b="1">
                <a:solidFill>
                  <a:srgbClr val="002F54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Métodos No Supervisados</a:t>
            </a:r>
          </a:p>
          <a:p>
            <a:pPr algn="l">
              <a:lnSpc>
                <a:spcPts val="3916"/>
              </a:lnSpc>
            </a:pPr>
            <a:r>
              <a:rPr lang="en-US" sz="2797" b="1">
                <a:solidFill>
                  <a:srgbClr val="002F54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de Machine Learning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0976" y="8926459"/>
            <a:ext cx="4187952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28BDE1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Melani</a:t>
            </a:r>
            <a:r>
              <a:rPr lang="en-US" sz="1400" b="1" dirty="0">
                <a:solidFill>
                  <a:srgbClr val="28BDE1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 Tirado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28BDE1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Andrea Marquez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28BDE1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Luis </a:t>
            </a:r>
            <a:r>
              <a:rPr lang="en-US" sz="1400" b="1" dirty="0" err="1">
                <a:solidFill>
                  <a:srgbClr val="28BDE1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Orduz</a:t>
            </a:r>
            <a:endParaRPr lang="en-US" sz="1400" b="1" dirty="0">
              <a:solidFill>
                <a:srgbClr val="28BDE1"/>
              </a:solidFill>
              <a:latin typeface="Montaser Arabic Semi-Bold"/>
              <a:ea typeface="Montaser Arabic Semi-Bold"/>
              <a:cs typeface="Montaser Arabic Semi-Bold"/>
              <a:sym typeface="Montaser Arabic Semi-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01850" y="1714500"/>
            <a:ext cx="2838450" cy="857250"/>
          </a:xfrm>
          <a:custGeom>
            <a:avLst/>
            <a:gdLst/>
            <a:ahLst/>
            <a:cxnLst/>
            <a:rect l="l" t="t" r="r" b="b"/>
            <a:pathLst>
              <a:path w="2838450" h="857250">
                <a:moveTo>
                  <a:pt x="0" y="0"/>
                </a:moveTo>
                <a:lnTo>
                  <a:pt x="2838450" y="0"/>
                </a:lnTo>
                <a:lnTo>
                  <a:pt x="28384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" y="922352"/>
            <a:ext cx="12271248" cy="199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5"/>
              </a:lnSpc>
            </a:pPr>
            <a:r>
              <a:rPr lang="en-US" sz="7229" b="1" spc="-216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El NPS nos dice cuánto recomienda un estudiante...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124497"/>
            <a:ext cx="9546336" cy="60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6"/>
              </a:lnSpc>
            </a:pPr>
            <a:r>
              <a:rPr lang="en-US" sz="4463" b="1" spc="-133">
                <a:solidFill>
                  <a:srgbClr val="00A5C0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¿Pero nos dice realmente quién es?</a:t>
            </a:r>
          </a:p>
        </p:txBody>
      </p:sp>
      <p:sp>
        <p:nvSpPr>
          <p:cNvPr id="6" name="Freeform 6"/>
          <p:cNvSpPr/>
          <p:nvPr/>
        </p:nvSpPr>
        <p:spPr>
          <a:xfrm>
            <a:off x="866775" y="5143500"/>
            <a:ext cx="9591675" cy="1504950"/>
          </a:xfrm>
          <a:custGeom>
            <a:avLst/>
            <a:gdLst/>
            <a:ahLst/>
            <a:cxnLst/>
            <a:rect l="l" t="t" r="r" b="b"/>
            <a:pathLst>
              <a:path w="9591675" h="1504950">
                <a:moveTo>
                  <a:pt x="0" y="0"/>
                </a:moveTo>
                <a:lnTo>
                  <a:pt x="9591675" y="0"/>
                </a:lnTo>
                <a:lnTo>
                  <a:pt x="959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29850" y="5143500"/>
            <a:ext cx="3705225" cy="1504950"/>
          </a:xfrm>
          <a:custGeom>
            <a:avLst/>
            <a:gdLst/>
            <a:ahLst/>
            <a:cxnLst/>
            <a:rect l="l" t="t" r="r" b="b"/>
            <a:pathLst>
              <a:path w="3705225" h="1504950">
                <a:moveTo>
                  <a:pt x="0" y="0"/>
                </a:moveTo>
                <a:lnTo>
                  <a:pt x="3705225" y="0"/>
                </a:lnTo>
                <a:lnTo>
                  <a:pt x="3705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16000" y="5143500"/>
            <a:ext cx="3486150" cy="1504950"/>
          </a:xfrm>
          <a:custGeom>
            <a:avLst/>
            <a:gdLst/>
            <a:ahLst/>
            <a:cxnLst/>
            <a:rect l="l" t="t" r="r" b="b"/>
            <a:pathLst>
              <a:path w="3486150" h="1504950">
                <a:moveTo>
                  <a:pt x="0" y="0"/>
                </a:moveTo>
                <a:lnTo>
                  <a:pt x="3486150" y="0"/>
                </a:lnTo>
                <a:lnTo>
                  <a:pt x="3486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5850" y="5353050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553712" y="5756041"/>
            <a:ext cx="1975104" cy="36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620" b="1" spc="-7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Detractores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668000" y="53530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868912" y="5729010"/>
            <a:ext cx="1335024" cy="421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Pasivos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4144625" y="5353050"/>
            <a:ext cx="885825" cy="1076325"/>
          </a:xfrm>
          <a:custGeom>
            <a:avLst/>
            <a:gdLst/>
            <a:ahLst/>
            <a:cxnLst/>
            <a:rect l="l" t="t" r="r" b="b"/>
            <a:pathLst>
              <a:path w="885825" h="10763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069312" y="5749523"/>
            <a:ext cx="1956816" cy="38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1"/>
              </a:lnSpc>
            </a:pPr>
            <a:r>
              <a:rPr lang="en-US" sz="2833" b="1" spc="-8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Promotores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2688" y="7241109"/>
            <a:ext cx="6748272" cy="1847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656">
                <a:solidFill>
                  <a:srgbClr val="1E3657"/>
                </a:solidFill>
                <a:latin typeface="DM Sans"/>
                <a:ea typeface="DM Sans"/>
                <a:cs typeface="DM Sans"/>
                <a:sym typeface="DM Sans"/>
              </a:rPr>
              <a:t>La clasificación parte de una puntuación, </a:t>
            </a:r>
          </a:p>
          <a:p>
            <a:pPr algn="l">
              <a:lnSpc>
                <a:spcPts val="3718"/>
              </a:lnSpc>
            </a:pPr>
            <a:r>
              <a:rPr lang="en-US" sz="2656">
                <a:solidFill>
                  <a:srgbClr val="1E3657"/>
                </a:solidFill>
                <a:latin typeface="DM Sans"/>
                <a:ea typeface="DM Sans"/>
                <a:cs typeface="DM Sans"/>
                <a:sym typeface="DM Sans"/>
              </a:rPr>
              <a:t>pero detrás de esa puntuación existe </a:t>
            </a:r>
          </a:p>
          <a:p>
            <a:pPr algn="l">
              <a:lnSpc>
                <a:spcPts val="3718"/>
              </a:lnSpc>
            </a:pPr>
            <a:r>
              <a:rPr lang="en-US" sz="2656">
                <a:solidFill>
                  <a:srgbClr val="1E3657"/>
                </a:solidFill>
                <a:latin typeface="DM Sans"/>
                <a:ea typeface="DM Sans"/>
                <a:cs typeface="DM Sans"/>
                <a:sym typeface="DM Sans"/>
              </a:rPr>
              <a:t>un estudiante con múltiples características </a:t>
            </a:r>
          </a:p>
          <a:p>
            <a:pPr algn="l">
              <a:lnSpc>
                <a:spcPts val="3718"/>
              </a:lnSpc>
            </a:pPr>
            <a:r>
              <a:rPr lang="en-US" sz="2656">
                <a:solidFill>
                  <a:srgbClr val="1E3657"/>
                </a:solidFill>
                <a:latin typeface="DM Sans"/>
                <a:ea typeface="DM Sans"/>
                <a:cs typeface="DM Sans"/>
                <a:sym typeface="DM Sans"/>
              </a:rPr>
              <a:t>y experiencias.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3584" y="4606965"/>
            <a:ext cx="256032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98064" y="4606965"/>
            <a:ext cx="146304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15968" y="4606965"/>
            <a:ext cx="256032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88736" y="4606965"/>
            <a:ext cx="256032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79792" y="4606965"/>
            <a:ext cx="256032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89136" y="4606965"/>
            <a:ext cx="256032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33888" y="4606965"/>
            <a:ext cx="256032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42064" y="4606965"/>
            <a:ext cx="256032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68528" y="4606965"/>
            <a:ext cx="256032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794992" y="4606965"/>
            <a:ext cx="256032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258032" y="4606965"/>
            <a:ext cx="420624" cy="4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3010" b="1" spc="-90">
                <a:solidFill>
                  <a:srgbClr val="1E365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72625" y="4714875"/>
            <a:ext cx="8715375" cy="5572125"/>
          </a:xfrm>
          <a:custGeom>
            <a:avLst/>
            <a:gdLst/>
            <a:ahLst/>
            <a:cxnLst/>
            <a:rect l="l" t="t" r="r" b="b"/>
            <a:pathLst>
              <a:path w="8715375" h="5572125">
                <a:moveTo>
                  <a:pt x="0" y="0"/>
                </a:moveTo>
                <a:lnTo>
                  <a:pt x="8715375" y="0"/>
                </a:lnTo>
                <a:lnTo>
                  <a:pt x="87153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144625" y="1066800"/>
            <a:ext cx="3276600" cy="1076325"/>
          </a:xfrm>
          <a:custGeom>
            <a:avLst/>
            <a:gdLst/>
            <a:ahLst/>
            <a:cxnLst/>
            <a:rect l="l" t="t" r="r" b="b"/>
            <a:pathLst>
              <a:path w="3276600" h="1076325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32688" y="1554355"/>
            <a:ext cx="10332720" cy="101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9"/>
              </a:lnSpc>
            </a:pPr>
            <a:r>
              <a:rPr lang="en-US" sz="7689" b="1" spc="-230">
                <a:solidFill>
                  <a:srgbClr val="002F69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Nuestro Dataset</a:t>
            </a:r>
          </a:p>
        </p:txBody>
      </p:sp>
      <p:sp>
        <p:nvSpPr>
          <p:cNvPr id="6" name="Freeform 6"/>
          <p:cNvSpPr/>
          <p:nvPr/>
        </p:nvSpPr>
        <p:spPr>
          <a:xfrm>
            <a:off x="866775" y="3638550"/>
            <a:ext cx="3057525" cy="4076700"/>
          </a:xfrm>
          <a:custGeom>
            <a:avLst/>
            <a:gdLst/>
            <a:ahLst/>
            <a:cxnLst/>
            <a:rect l="l" t="t" r="r" b="b"/>
            <a:pathLst>
              <a:path w="3057525" h="4076700">
                <a:moveTo>
                  <a:pt x="0" y="0"/>
                </a:moveTo>
                <a:lnTo>
                  <a:pt x="3057525" y="0"/>
                </a:lnTo>
                <a:lnTo>
                  <a:pt x="30575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5850" y="40671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43584" y="4894442"/>
            <a:ext cx="2048256" cy="92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6980" b="1" spc="-209">
                <a:solidFill>
                  <a:srgbClr val="002F69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2.194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3584" y="6103260"/>
            <a:ext cx="1737360" cy="31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2443" spc="-73">
                <a:solidFill>
                  <a:srgbClr val="002F6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Estudiantes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4133850" y="3638550"/>
            <a:ext cx="3276600" cy="4076700"/>
          </a:xfrm>
          <a:custGeom>
            <a:avLst/>
            <a:gdLst/>
            <a:ahLst/>
            <a:cxnLst/>
            <a:rect l="l" t="t" r="r" b="b"/>
            <a:pathLst>
              <a:path w="3276600" h="4076700">
                <a:moveTo>
                  <a:pt x="0" y="0"/>
                </a:moveTo>
                <a:lnTo>
                  <a:pt x="3276600" y="0"/>
                </a:lnTo>
                <a:lnTo>
                  <a:pt x="32766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572000" y="4067175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626864" y="4884467"/>
            <a:ext cx="1517904" cy="94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16"/>
              </a:lnSpc>
            </a:pPr>
            <a:r>
              <a:rPr lang="en-US" sz="7016" b="1" spc="-210">
                <a:solidFill>
                  <a:srgbClr val="00B7D5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159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26864" y="6098047"/>
            <a:ext cx="1517904" cy="32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2478" spc="-74">
                <a:solidFill>
                  <a:srgbClr val="002F6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Columnas</a:t>
            </a:r>
          </a:p>
        </p:txBody>
      </p:sp>
      <p:sp>
        <p:nvSpPr>
          <p:cNvPr id="14" name="Freeform 14"/>
          <p:cNvSpPr/>
          <p:nvPr/>
        </p:nvSpPr>
        <p:spPr>
          <a:xfrm>
            <a:off x="7400925" y="3638550"/>
            <a:ext cx="3267075" cy="4076700"/>
          </a:xfrm>
          <a:custGeom>
            <a:avLst/>
            <a:gdLst/>
            <a:ahLst/>
            <a:cxnLst/>
            <a:rect l="l" t="t" r="r" b="b"/>
            <a:pathLst>
              <a:path w="3267075" h="4076700">
                <a:moveTo>
                  <a:pt x="0" y="0"/>
                </a:moveTo>
                <a:lnTo>
                  <a:pt x="3267075" y="0"/>
                </a:lnTo>
                <a:lnTo>
                  <a:pt x="32670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048625" y="4067175"/>
            <a:ext cx="885825" cy="219075"/>
          </a:xfrm>
          <a:custGeom>
            <a:avLst/>
            <a:gdLst/>
            <a:ahLst/>
            <a:cxnLst/>
            <a:rect l="l" t="t" r="r" b="b"/>
            <a:pathLst>
              <a:path w="885825" h="219075">
                <a:moveTo>
                  <a:pt x="0" y="0"/>
                </a:moveTo>
                <a:lnTo>
                  <a:pt x="885825" y="0"/>
                </a:lnTo>
                <a:lnTo>
                  <a:pt x="885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010144" y="4884467"/>
            <a:ext cx="1737360" cy="94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16"/>
              </a:lnSpc>
            </a:pPr>
            <a:r>
              <a:rPr lang="en-US" sz="7016" b="1" spc="-210">
                <a:solidFill>
                  <a:srgbClr val="002F69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≈60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10144" y="6097147"/>
            <a:ext cx="2139696" cy="331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549" spc="-76">
                <a:solidFill>
                  <a:srgbClr val="002F6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Universidades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877550" y="3638550"/>
            <a:ext cx="3276600" cy="4076700"/>
          </a:xfrm>
          <a:custGeom>
            <a:avLst/>
            <a:gdLst/>
            <a:ahLst/>
            <a:cxnLst/>
            <a:rect l="l" t="t" r="r" b="b"/>
            <a:pathLst>
              <a:path w="3276600" h="4076700">
                <a:moveTo>
                  <a:pt x="0" y="0"/>
                </a:moveTo>
                <a:lnTo>
                  <a:pt x="3276600" y="0"/>
                </a:lnTo>
                <a:lnTo>
                  <a:pt x="32766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096625" y="40671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283696" y="4884467"/>
            <a:ext cx="2322576" cy="94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16"/>
              </a:lnSpc>
            </a:pPr>
            <a:r>
              <a:rPr lang="en-US" sz="7016" b="1" spc="-210">
                <a:solidFill>
                  <a:srgbClr val="00B7D5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17-59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83696" y="6026403"/>
            <a:ext cx="877824" cy="38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spc="-89">
                <a:solidFill>
                  <a:srgbClr val="002F6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años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83696" y="6603911"/>
            <a:ext cx="2139696" cy="3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sz="2337" spc="-70">
                <a:solidFill>
                  <a:srgbClr val="002F6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Rango de edad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144625" y="3638550"/>
            <a:ext cx="3276600" cy="4076700"/>
          </a:xfrm>
          <a:custGeom>
            <a:avLst/>
            <a:gdLst/>
            <a:ahLst/>
            <a:cxnLst/>
            <a:rect l="l" t="t" r="r" b="b"/>
            <a:pathLst>
              <a:path w="3276600" h="4076700">
                <a:moveTo>
                  <a:pt x="0" y="0"/>
                </a:moveTo>
                <a:lnTo>
                  <a:pt x="3276600" y="0"/>
                </a:lnTo>
                <a:lnTo>
                  <a:pt x="32766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4801850" y="4067175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794992" y="4884467"/>
            <a:ext cx="1737360" cy="94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16"/>
              </a:lnSpc>
            </a:pPr>
            <a:r>
              <a:rPr lang="en-US" sz="7016" b="1" spc="-210">
                <a:solidFill>
                  <a:srgbClr val="002F69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24,3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794992" y="6026403"/>
            <a:ext cx="877824" cy="38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spc="-89">
                <a:solidFill>
                  <a:srgbClr val="002F6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años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794992" y="6614787"/>
            <a:ext cx="2103120" cy="29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sz="2230" spc="-66">
                <a:solidFill>
                  <a:srgbClr val="002F6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Edad promedio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2688" y="8650574"/>
            <a:ext cx="9509760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spc="-71">
                <a:solidFill>
                  <a:srgbClr val="002F6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Encuesta aplicada a estudiantes universitarios de Costa Rica –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7824" y="693749"/>
            <a:ext cx="9180576" cy="1875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2"/>
              </a:lnSpc>
            </a:pPr>
            <a:r>
              <a:rPr lang="en-US" sz="6945" b="1">
                <a:solidFill>
                  <a:srgbClr val="001D5A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Mucho más que</a:t>
            </a:r>
          </a:p>
          <a:p>
            <a:pPr algn="l">
              <a:lnSpc>
                <a:spcPts val="7292"/>
              </a:lnSpc>
            </a:pPr>
            <a:r>
              <a:rPr lang="en-US" sz="6945" b="1">
                <a:solidFill>
                  <a:srgbClr val="001D5A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una puntuación NPS</a:t>
            </a:r>
          </a:p>
        </p:txBody>
      </p:sp>
      <p:sp>
        <p:nvSpPr>
          <p:cNvPr id="4" name="Freeform 4"/>
          <p:cNvSpPr/>
          <p:nvPr/>
        </p:nvSpPr>
        <p:spPr>
          <a:xfrm>
            <a:off x="6305550" y="3429000"/>
            <a:ext cx="5676900" cy="5143500"/>
          </a:xfrm>
          <a:custGeom>
            <a:avLst/>
            <a:gdLst/>
            <a:ahLst/>
            <a:cxnLst/>
            <a:rect l="l" t="t" r="r" b="b"/>
            <a:pathLst>
              <a:path w="5676900" h="5143500">
                <a:moveTo>
                  <a:pt x="0" y="0"/>
                </a:moveTo>
                <a:lnTo>
                  <a:pt x="5676900" y="0"/>
                </a:lnTo>
                <a:lnTo>
                  <a:pt x="56769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400925" y="4495800"/>
            <a:ext cx="3267075" cy="3219450"/>
          </a:xfrm>
          <a:custGeom>
            <a:avLst/>
            <a:gdLst/>
            <a:ahLst/>
            <a:cxnLst/>
            <a:rect l="l" t="t" r="r" b="b"/>
            <a:pathLst>
              <a:path w="3267075" h="3219450">
                <a:moveTo>
                  <a:pt x="0" y="0"/>
                </a:moveTo>
                <a:lnTo>
                  <a:pt x="3267075" y="0"/>
                </a:lnTo>
                <a:lnTo>
                  <a:pt x="32670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918704" y="5899087"/>
            <a:ext cx="2395728" cy="377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833" b="1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ESTUDIANTE</a:t>
            </a:r>
          </a:p>
        </p:txBody>
      </p:sp>
      <p:sp>
        <p:nvSpPr>
          <p:cNvPr id="7" name="Freeform 7"/>
          <p:cNvSpPr/>
          <p:nvPr/>
        </p:nvSpPr>
        <p:spPr>
          <a:xfrm>
            <a:off x="3048000" y="2571750"/>
            <a:ext cx="4143375" cy="2143125"/>
          </a:xfrm>
          <a:custGeom>
            <a:avLst/>
            <a:gdLst/>
            <a:ahLst/>
            <a:cxnLst/>
            <a:rect l="l" t="t" r="r" b="b"/>
            <a:pathLst>
              <a:path w="4143375" h="2143125">
                <a:moveTo>
                  <a:pt x="0" y="0"/>
                </a:moveTo>
                <a:lnTo>
                  <a:pt x="4143375" y="0"/>
                </a:lnTo>
                <a:lnTo>
                  <a:pt x="4143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675888" y="2891151"/>
            <a:ext cx="2048256" cy="27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sz="1947" b="1" spc="-58">
                <a:solidFill>
                  <a:srgbClr val="28B5C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Perfil académico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75888" y="3315737"/>
            <a:ext cx="1682496" cy="106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21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Carrera</a:t>
            </a:r>
          </a:p>
          <a:p>
            <a:pPr algn="l">
              <a:lnSpc>
                <a:spcPts val="2130"/>
              </a:lnSpc>
            </a:pPr>
            <a:r>
              <a:rPr lang="en-US" sz="1521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modalidad</a:t>
            </a:r>
          </a:p>
          <a:p>
            <a:pPr algn="l">
              <a:lnSpc>
                <a:spcPts val="2130"/>
              </a:lnSpc>
            </a:pPr>
            <a:r>
              <a:rPr lang="en-US" sz="1521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área</a:t>
            </a:r>
          </a:p>
          <a:p>
            <a:pPr algn="l">
              <a:lnSpc>
                <a:spcPts val="2130"/>
              </a:lnSpc>
            </a:pPr>
            <a:r>
              <a:rPr lang="en-US" sz="1521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etapa académica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448925" y="2352675"/>
            <a:ext cx="4791075" cy="1933575"/>
          </a:xfrm>
          <a:custGeom>
            <a:avLst/>
            <a:gdLst/>
            <a:ahLst/>
            <a:cxnLst/>
            <a:rect l="l" t="t" r="r" b="b"/>
            <a:pathLst>
              <a:path w="4791075" h="1933575">
                <a:moveTo>
                  <a:pt x="0" y="0"/>
                </a:moveTo>
                <a:lnTo>
                  <a:pt x="4791075" y="0"/>
                </a:lnTo>
                <a:lnTo>
                  <a:pt x="4791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558016" y="2798568"/>
            <a:ext cx="3017520" cy="27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sz="1947" b="1" spc="-58">
                <a:solidFill>
                  <a:srgbClr val="001D5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Experiencia universitaria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58016" y="3171112"/>
            <a:ext cx="1225296" cy="872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592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Satisfacción</a:t>
            </a:r>
          </a:p>
          <a:p>
            <a:pPr algn="l">
              <a:lnSpc>
                <a:spcPts val="2388"/>
              </a:lnSpc>
            </a:pPr>
            <a:r>
              <a:rPr lang="en-US" sz="1592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esfuerzo</a:t>
            </a:r>
          </a:p>
          <a:p>
            <a:pPr algn="l">
              <a:lnSpc>
                <a:spcPts val="2388"/>
              </a:lnSpc>
            </a:pPr>
            <a:r>
              <a:rPr lang="en-US" sz="1592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percepción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24000" y="5143500"/>
            <a:ext cx="4143375" cy="2143125"/>
          </a:xfrm>
          <a:custGeom>
            <a:avLst/>
            <a:gdLst/>
            <a:ahLst/>
            <a:cxnLst/>
            <a:rect l="l" t="t" r="r" b="b"/>
            <a:pathLst>
              <a:path w="4143375" h="2143125">
                <a:moveTo>
                  <a:pt x="0" y="0"/>
                </a:moveTo>
                <a:lnTo>
                  <a:pt x="4143375" y="0"/>
                </a:lnTo>
                <a:lnTo>
                  <a:pt x="4143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48256" y="5451514"/>
            <a:ext cx="3017520" cy="266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982" b="1" spc="-59">
                <a:solidFill>
                  <a:srgbClr val="001D5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Percepción institucional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48256" y="5848764"/>
            <a:ext cx="1499616" cy="1102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Calidad</a:t>
            </a:r>
          </a:p>
          <a:p>
            <a:pPr algn="l">
              <a:lnSpc>
                <a:spcPts val="2229"/>
              </a:lnSpc>
            </a:pPr>
            <a:r>
              <a:rPr lang="en-US" sz="1592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infraestructura</a:t>
            </a:r>
          </a:p>
          <a:p>
            <a:pPr algn="l">
              <a:lnSpc>
                <a:spcPts val="2229"/>
              </a:lnSpc>
            </a:pPr>
            <a:r>
              <a:rPr lang="en-US" sz="1592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plataformas</a:t>
            </a:r>
          </a:p>
          <a:p>
            <a:pPr algn="l">
              <a:lnSpc>
                <a:spcPts val="2229"/>
              </a:lnSpc>
            </a:pPr>
            <a:r>
              <a:rPr lang="en-US" sz="1592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prestigio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192000" y="5143500"/>
            <a:ext cx="4362450" cy="2143125"/>
          </a:xfrm>
          <a:custGeom>
            <a:avLst/>
            <a:gdLst/>
            <a:ahLst/>
            <a:cxnLst/>
            <a:rect l="l" t="t" r="r" b="b"/>
            <a:pathLst>
              <a:path w="4362450" h="2143125">
                <a:moveTo>
                  <a:pt x="0" y="0"/>
                </a:moveTo>
                <a:lnTo>
                  <a:pt x="4362450" y="0"/>
                </a:lnTo>
                <a:lnTo>
                  <a:pt x="4362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783312" y="5432040"/>
            <a:ext cx="3310128" cy="27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sz="1947" b="1" spc="-58">
                <a:solidFill>
                  <a:srgbClr val="28B5C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Economía y financiamiento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83312" y="5895038"/>
            <a:ext cx="1444752" cy="101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486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Ingresos</a:t>
            </a:r>
          </a:p>
          <a:p>
            <a:pPr algn="l">
              <a:lnSpc>
                <a:spcPts val="2080"/>
              </a:lnSpc>
            </a:pPr>
            <a:r>
              <a:rPr lang="en-US" sz="1486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becas</a:t>
            </a:r>
          </a:p>
          <a:p>
            <a:pPr algn="l">
              <a:lnSpc>
                <a:spcPts val="2080"/>
              </a:lnSpc>
            </a:pPr>
            <a:r>
              <a:rPr lang="en-US" sz="1486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pagos</a:t>
            </a:r>
          </a:p>
          <a:p>
            <a:pPr algn="l">
              <a:lnSpc>
                <a:spcPts val="2080"/>
              </a:lnSpc>
            </a:pPr>
            <a:r>
              <a:rPr lang="en-US" sz="1486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financiamiento</a:t>
            </a:r>
          </a:p>
        </p:txBody>
      </p:sp>
      <p:sp>
        <p:nvSpPr>
          <p:cNvPr id="19" name="Freeform 19"/>
          <p:cNvSpPr/>
          <p:nvPr/>
        </p:nvSpPr>
        <p:spPr>
          <a:xfrm>
            <a:off x="3048000" y="7924800"/>
            <a:ext cx="4143375" cy="1933575"/>
          </a:xfrm>
          <a:custGeom>
            <a:avLst/>
            <a:gdLst/>
            <a:ahLst/>
            <a:cxnLst/>
            <a:rect l="l" t="t" r="r" b="b"/>
            <a:pathLst>
              <a:path w="4143375" h="1933575">
                <a:moveTo>
                  <a:pt x="0" y="0"/>
                </a:moveTo>
                <a:lnTo>
                  <a:pt x="4143375" y="0"/>
                </a:lnTo>
                <a:lnTo>
                  <a:pt x="4143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21024" y="8204343"/>
            <a:ext cx="1572768" cy="26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911" b="1" spc="-57">
                <a:solidFill>
                  <a:srgbClr val="28B5C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Permanencia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21024" y="8615585"/>
            <a:ext cx="2212848" cy="84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521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Riesgo de abandono</a:t>
            </a:r>
          </a:p>
          <a:p>
            <a:pPr algn="l">
              <a:lnSpc>
                <a:spcPts val="2282"/>
              </a:lnSpc>
            </a:pPr>
            <a:r>
              <a:rPr lang="en-US" sz="1521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dificultades</a:t>
            </a:r>
          </a:p>
          <a:p>
            <a:pPr algn="l">
              <a:lnSpc>
                <a:spcPts val="2282"/>
              </a:lnSpc>
            </a:pPr>
            <a:r>
              <a:rPr lang="en-US" sz="1521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cambio de universidad</a:t>
            </a:r>
          </a:p>
        </p:txBody>
      </p:sp>
      <p:sp>
        <p:nvSpPr>
          <p:cNvPr id="22" name="Freeform 22"/>
          <p:cNvSpPr/>
          <p:nvPr/>
        </p:nvSpPr>
        <p:spPr>
          <a:xfrm>
            <a:off x="11096625" y="7715250"/>
            <a:ext cx="4143375" cy="2143125"/>
          </a:xfrm>
          <a:custGeom>
            <a:avLst/>
            <a:gdLst/>
            <a:ahLst/>
            <a:cxnLst/>
            <a:rect l="l" t="t" r="r" b="b"/>
            <a:pathLst>
              <a:path w="4143375" h="2143125">
                <a:moveTo>
                  <a:pt x="0" y="0"/>
                </a:moveTo>
                <a:lnTo>
                  <a:pt x="4143375" y="0"/>
                </a:lnTo>
                <a:lnTo>
                  <a:pt x="4143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649456" y="8044938"/>
            <a:ext cx="2852928" cy="27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sz="1947" b="1" spc="-58">
                <a:solidFill>
                  <a:srgbClr val="001D5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Perfil personal y laboral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49456" y="8515799"/>
            <a:ext cx="1499616" cy="983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Edad</a:t>
            </a:r>
          </a:p>
          <a:p>
            <a:pPr algn="l">
              <a:lnSpc>
                <a:spcPts val="1981"/>
              </a:lnSpc>
            </a:pPr>
            <a:r>
              <a:rPr lang="en-US" sz="1415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sexo</a:t>
            </a:r>
          </a:p>
          <a:p>
            <a:pPr algn="l">
              <a:lnSpc>
                <a:spcPts val="1981"/>
              </a:lnSpc>
            </a:pPr>
            <a:r>
              <a:rPr lang="en-US" sz="1415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provincia</a:t>
            </a:r>
          </a:p>
          <a:p>
            <a:pPr algn="l">
              <a:lnSpc>
                <a:spcPts val="1981"/>
              </a:lnSpc>
            </a:pPr>
            <a:r>
              <a:rPr lang="en-US" sz="1415">
                <a:solidFill>
                  <a:srgbClr val="001D5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situación laboral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2960" y="590823"/>
            <a:ext cx="12746736" cy="196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3"/>
              </a:lnSpc>
            </a:pPr>
            <a:r>
              <a:rPr lang="en-US" sz="7583" b="1" spc="-303">
                <a:solidFill>
                  <a:srgbClr val="18254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La mayoría de los estudiantes son promotores</a:t>
            </a:r>
          </a:p>
        </p:txBody>
      </p:sp>
      <p:sp>
        <p:nvSpPr>
          <p:cNvPr id="4" name="Freeform 4"/>
          <p:cNvSpPr/>
          <p:nvPr/>
        </p:nvSpPr>
        <p:spPr>
          <a:xfrm>
            <a:off x="1524000" y="3000375"/>
            <a:ext cx="5448300" cy="5362575"/>
          </a:xfrm>
          <a:custGeom>
            <a:avLst/>
            <a:gdLst/>
            <a:ahLst/>
            <a:cxnLst/>
            <a:rect l="l" t="t" r="r" b="b"/>
            <a:pathLst>
              <a:path w="5448300" h="5362575">
                <a:moveTo>
                  <a:pt x="0" y="0"/>
                </a:moveTo>
                <a:lnTo>
                  <a:pt x="5448300" y="0"/>
                </a:lnTo>
                <a:lnTo>
                  <a:pt x="5448300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620000" y="3209925"/>
            <a:ext cx="438150" cy="1295400"/>
          </a:xfrm>
          <a:custGeom>
            <a:avLst/>
            <a:gdLst/>
            <a:ahLst/>
            <a:cxnLst/>
            <a:rect l="l" t="t" r="r" b="b"/>
            <a:pathLst>
              <a:path w="438150" h="1295400">
                <a:moveTo>
                  <a:pt x="0" y="0"/>
                </a:moveTo>
                <a:lnTo>
                  <a:pt x="438150" y="0"/>
                </a:lnTo>
                <a:lnTo>
                  <a:pt x="438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67344" y="3222117"/>
            <a:ext cx="360273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19"/>
              </a:lnSpc>
            </a:pPr>
            <a:r>
              <a:rPr lang="en-US" sz="7016" b="1">
                <a:solidFill>
                  <a:srgbClr val="429F57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73,93 %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74752" y="3443478"/>
            <a:ext cx="1847088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1">
                <a:solidFill>
                  <a:srgbClr val="18254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Promotores</a:t>
            </a:r>
          </a:p>
          <a:p>
            <a:pPr algn="l">
              <a:lnSpc>
                <a:spcPts val="2889"/>
              </a:lnSpc>
            </a:pPr>
            <a:r>
              <a:rPr lang="en-US" sz="2407" b="1">
                <a:solidFill>
                  <a:srgbClr val="18254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1.622</a:t>
            </a:r>
          </a:p>
        </p:txBody>
      </p:sp>
      <p:sp>
        <p:nvSpPr>
          <p:cNvPr id="8" name="Freeform 8"/>
          <p:cNvSpPr/>
          <p:nvPr/>
        </p:nvSpPr>
        <p:spPr>
          <a:xfrm>
            <a:off x="7620000" y="4495800"/>
            <a:ext cx="8496300" cy="219075"/>
          </a:xfrm>
          <a:custGeom>
            <a:avLst/>
            <a:gdLst/>
            <a:ahLst/>
            <a:cxnLst/>
            <a:rect l="l" t="t" r="r" b="b"/>
            <a:pathLst>
              <a:path w="8496300" h="219075">
                <a:moveTo>
                  <a:pt x="0" y="0"/>
                </a:moveTo>
                <a:lnTo>
                  <a:pt x="8496300" y="0"/>
                </a:lnTo>
                <a:lnTo>
                  <a:pt x="849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20000" y="4924425"/>
            <a:ext cx="438150" cy="1295400"/>
          </a:xfrm>
          <a:custGeom>
            <a:avLst/>
            <a:gdLst/>
            <a:ahLst/>
            <a:cxnLst/>
            <a:rect l="l" t="t" r="r" b="b"/>
            <a:pathLst>
              <a:path w="438150" h="1295400">
                <a:moveTo>
                  <a:pt x="0" y="0"/>
                </a:moveTo>
                <a:lnTo>
                  <a:pt x="438150" y="0"/>
                </a:lnTo>
                <a:lnTo>
                  <a:pt x="438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467344" y="5112639"/>
            <a:ext cx="332841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4"/>
              </a:lnSpc>
            </a:pPr>
            <a:r>
              <a:rPr lang="en-US" sz="6803" b="1">
                <a:solidFill>
                  <a:srgbClr val="F4C034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16,77 %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74752" y="5093970"/>
            <a:ext cx="1298448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 b="1">
                <a:solidFill>
                  <a:srgbClr val="18254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Pasivos</a:t>
            </a:r>
          </a:p>
          <a:p>
            <a:pPr algn="l">
              <a:lnSpc>
                <a:spcPts val="3229"/>
              </a:lnSpc>
            </a:pPr>
            <a:r>
              <a:rPr lang="en-US" sz="2691" b="1">
                <a:solidFill>
                  <a:srgbClr val="18254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368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0" y="6210300"/>
            <a:ext cx="8715375" cy="438150"/>
          </a:xfrm>
          <a:custGeom>
            <a:avLst/>
            <a:gdLst/>
            <a:ahLst/>
            <a:cxnLst/>
            <a:rect l="l" t="t" r="r" b="b"/>
            <a:pathLst>
              <a:path w="8715375" h="438150">
                <a:moveTo>
                  <a:pt x="0" y="0"/>
                </a:moveTo>
                <a:lnTo>
                  <a:pt x="8715375" y="0"/>
                </a:lnTo>
                <a:lnTo>
                  <a:pt x="871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620000" y="6638925"/>
            <a:ext cx="438150" cy="1295400"/>
          </a:xfrm>
          <a:custGeom>
            <a:avLst/>
            <a:gdLst/>
            <a:ahLst/>
            <a:cxnLst/>
            <a:rect l="l" t="t" r="r" b="b"/>
            <a:pathLst>
              <a:path w="438150" h="1295400">
                <a:moveTo>
                  <a:pt x="0" y="0"/>
                </a:moveTo>
                <a:lnTo>
                  <a:pt x="438150" y="0"/>
                </a:lnTo>
                <a:lnTo>
                  <a:pt x="438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650224" y="6862191"/>
            <a:ext cx="3035808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1"/>
              </a:lnSpc>
            </a:pPr>
            <a:r>
              <a:rPr lang="en-US" sz="6768" b="1">
                <a:solidFill>
                  <a:srgbClr val="E64343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9,30 %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74752" y="6872097"/>
            <a:ext cx="1975104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585" b="1">
                <a:solidFill>
                  <a:srgbClr val="18254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Detrectores</a:t>
            </a:r>
          </a:p>
          <a:p>
            <a:pPr algn="l">
              <a:lnSpc>
                <a:spcPts val="3102"/>
              </a:lnSpc>
            </a:pPr>
            <a:r>
              <a:rPr lang="en-US" sz="2585" b="1">
                <a:solidFill>
                  <a:srgbClr val="18254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204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8176" y="8615547"/>
            <a:ext cx="11576304" cy="9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549" b="1">
                <a:solidFill>
                  <a:srgbClr val="18254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Esta clasificación es nuestro punto de referencia, pero no necesariamente describe toda la complejidad del estudiante.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29584" y="5327714"/>
            <a:ext cx="133502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4109" b="1">
                <a:solidFill>
                  <a:srgbClr val="18254D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2.194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77056" y="4986337"/>
            <a:ext cx="64008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sz="1947" b="1">
                <a:solidFill>
                  <a:srgbClr val="18254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Total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93008" y="5957316"/>
            <a:ext cx="146304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sz="1911" b="1">
                <a:solidFill>
                  <a:srgbClr val="18254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estudiantes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87168" y="1300554"/>
            <a:ext cx="13313664" cy="337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sz="6059" b="1" spc="-302">
                <a:solidFill>
                  <a:srgbClr val="00295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¿Qué características tienen</a:t>
            </a:r>
          </a:p>
          <a:p>
            <a:pPr algn="ctr">
              <a:lnSpc>
                <a:spcPts val="6665"/>
              </a:lnSpc>
            </a:pPr>
            <a:r>
              <a:rPr lang="en-US" sz="6059" b="1" spc="-302">
                <a:solidFill>
                  <a:srgbClr val="00295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en común los estudiantes con diferentes niveles de recomendación hacia su universidad?</a:t>
            </a:r>
          </a:p>
        </p:txBody>
      </p:sp>
      <p:sp>
        <p:nvSpPr>
          <p:cNvPr id="4" name="Freeform 4"/>
          <p:cNvSpPr/>
          <p:nvPr/>
        </p:nvSpPr>
        <p:spPr>
          <a:xfrm>
            <a:off x="3257550" y="4495800"/>
            <a:ext cx="13944600" cy="1295400"/>
          </a:xfrm>
          <a:custGeom>
            <a:avLst/>
            <a:gdLst/>
            <a:ahLst/>
            <a:cxnLst/>
            <a:rect l="l" t="t" r="r" b="b"/>
            <a:pathLst>
              <a:path w="13944600" h="1295400">
                <a:moveTo>
                  <a:pt x="0" y="0"/>
                </a:moveTo>
                <a:lnTo>
                  <a:pt x="13944600" y="0"/>
                </a:lnTo>
                <a:lnTo>
                  <a:pt x="13944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07008" y="4682681"/>
            <a:ext cx="82296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sz="6413" b="1" spc="-320">
                <a:solidFill>
                  <a:srgbClr val="00C4C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01</a:t>
            </a:r>
          </a:p>
        </p:txBody>
      </p:sp>
      <p:sp>
        <p:nvSpPr>
          <p:cNvPr id="6" name="Freeform 6"/>
          <p:cNvSpPr/>
          <p:nvPr/>
        </p:nvSpPr>
        <p:spPr>
          <a:xfrm>
            <a:off x="2171700" y="4924425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95344" y="5008054"/>
            <a:ext cx="824788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spc="-46">
                <a:solidFill>
                  <a:srgbClr val="00295B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¿Todos los promotores presentan características similares?</a:t>
            </a:r>
          </a:p>
        </p:txBody>
      </p:sp>
      <p:sp>
        <p:nvSpPr>
          <p:cNvPr id="8" name="Freeform 8"/>
          <p:cNvSpPr/>
          <p:nvPr/>
        </p:nvSpPr>
        <p:spPr>
          <a:xfrm>
            <a:off x="3257550" y="5781675"/>
            <a:ext cx="13944600" cy="1504950"/>
          </a:xfrm>
          <a:custGeom>
            <a:avLst/>
            <a:gdLst/>
            <a:ahLst/>
            <a:cxnLst/>
            <a:rect l="l" t="t" r="r" b="b"/>
            <a:pathLst>
              <a:path w="13944600" h="1504950">
                <a:moveTo>
                  <a:pt x="0" y="0"/>
                </a:moveTo>
                <a:lnTo>
                  <a:pt x="13944600" y="0"/>
                </a:lnTo>
                <a:lnTo>
                  <a:pt x="13944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07008" y="6069902"/>
            <a:ext cx="9326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1"/>
              </a:lnSpc>
            </a:pPr>
            <a:r>
              <a:rPr lang="en-US" sz="6059" b="1" spc="-302">
                <a:solidFill>
                  <a:srgbClr val="00C4C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02</a:t>
            </a:r>
          </a:p>
        </p:txBody>
      </p:sp>
      <p:sp>
        <p:nvSpPr>
          <p:cNvPr id="10" name="Freeform 10"/>
          <p:cNvSpPr/>
          <p:nvPr/>
        </p:nvSpPr>
        <p:spPr>
          <a:xfrm>
            <a:off x="2171700" y="6429375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895344" y="6365938"/>
            <a:ext cx="10369296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spc="-46">
                <a:solidFill>
                  <a:srgbClr val="00295B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¿Existen perfiles de estudiantes similares más allá de su puntuación NPS?</a:t>
            </a:r>
          </a:p>
        </p:txBody>
      </p:sp>
      <p:sp>
        <p:nvSpPr>
          <p:cNvPr id="12" name="Freeform 12"/>
          <p:cNvSpPr/>
          <p:nvPr/>
        </p:nvSpPr>
        <p:spPr>
          <a:xfrm>
            <a:off x="3257550" y="7067550"/>
            <a:ext cx="13944600" cy="1504950"/>
          </a:xfrm>
          <a:custGeom>
            <a:avLst/>
            <a:gdLst/>
            <a:ahLst/>
            <a:cxnLst/>
            <a:rect l="l" t="t" r="r" b="b"/>
            <a:pathLst>
              <a:path w="13944600" h="1504950">
                <a:moveTo>
                  <a:pt x="0" y="0"/>
                </a:moveTo>
                <a:lnTo>
                  <a:pt x="13944600" y="0"/>
                </a:lnTo>
                <a:lnTo>
                  <a:pt x="13944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07008" y="7438072"/>
            <a:ext cx="9326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1"/>
              </a:lnSpc>
            </a:pPr>
            <a:r>
              <a:rPr lang="en-US" sz="6059" b="1" spc="-302">
                <a:solidFill>
                  <a:srgbClr val="00C4C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03</a:t>
            </a:r>
          </a:p>
        </p:txBody>
      </p:sp>
      <p:sp>
        <p:nvSpPr>
          <p:cNvPr id="14" name="Freeform 14"/>
          <p:cNvSpPr/>
          <p:nvPr/>
        </p:nvSpPr>
        <p:spPr>
          <a:xfrm>
            <a:off x="2171700" y="77152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895344" y="7692962"/>
            <a:ext cx="1172260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spc="-46">
                <a:solidFill>
                  <a:srgbClr val="00295B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¿Las condiciones académicas, económicas o laborales diferencian algunos perfiles?</a:t>
            </a:r>
          </a:p>
        </p:txBody>
      </p:sp>
      <p:sp>
        <p:nvSpPr>
          <p:cNvPr id="16" name="Freeform 16"/>
          <p:cNvSpPr/>
          <p:nvPr/>
        </p:nvSpPr>
        <p:spPr>
          <a:xfrm>
            <a:off x="3257550" y="8572500"/>
            <a:ext cx="13944600" cy="1285875"/>
          </a:xfrm>
          <a:custGeom>
            <a:avLst/>
            <a:gdLst/>
            <a:ahLst/>
            <a:cxnLst/>
            <a:rect l="l" t="t" r="r" b="b"/>
            <a:pathLst>
              <a:path w="13944600" h="1285875">
                <a:moveTo>
                  <a:pt x="0" y="0"/>
                </a:moveTo>
                <a:lnTo>
                  <a:pt x="13944600" y="0"/>
                </a:lnTo>
                <a:lnTo>
                  <a:pt x="13944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07008" y="8744522"/>
            <a:ext cx="9326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1"/>
              </a:lnSpc>
            </a:pPr>
            <a:r>
              <a:rPr lang="en-US" sz="6059" b="1" spc="-302">
                <a:solidFill>
                  <a:srgbClr val="00C4C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04</a:t>
            </a:r>
          </a:p>
        </p:txBody>
      </p:sp>
      <p:sp>
        <p:nvSpPr>
          <p:cNvPr id="18" name="Freeform 18"/>
          <p:cNvSpPr/>
          <p:nvPr/>
        </p:nvSpPr>
        <p:spPr>
          <a:xfrm>
            <a:off x="2171700" y="900112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895344" y="9050846"/>
            <a:ext cx="11832336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spc="-46">
                <a:solidFill>
                  <a:srgbClr val="00295B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¿Existen características asociadas con la satisfacción y la permanencia universitaria?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6401" y="552450"/>
            <a:ext cx="5579498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sz="6413" b="1" spc="-320">
                <a:solidFill>
                  <a:srgbClr val="00C4C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Problema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4128" y="744945"/>
            <a:ext cx="11740896" cy="1882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23"/>
              </a:lnSpc>
            </a:pPr>
            <a:r>
              <a:rPr lang="en-US" sz="7370" b="1" spc="-309">
                <a:solidFill>
                  <a:srgbClr val="1E325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 una puntuación a una comprensión más integral</a:t>
            </a:r>
          </a:p>
        </p:txBody>
      </p:sp>
      <p:sp>
        <p:nvSpPr>
          <p:cNvPr id="4" name="Freeform 4"/>
          <p:cNvSpPr/>
          <p:nvPr/>
        </p:nvSpPr>
        <p:spPr>
          <a:xfrm>
            <a:off x="866775" y="3000375"/>
            <a:ext cx="5448300" cy="4933950"/>
          </a:xfrm>
          <a:custGeom>
            <a:avLst/>
            <a:gdLst/>
            <a:ahLst/>
            <a:cxnLst/>
            <a:rect l="l" t="t" r="r" b="b"/>
            <a:pathLst>
              <a:path w="5448300" h="4933950">
                <a:moveTo>
                  <a:pt x="0" y="0"/>
                </a:moveTo>
                <a:lnTo>
                  <a:pt x="5448300" y="0"/>
                </a:lnTo>
                <a:lnTo>
                  <a:pt x="5448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6775" y="3000375"/>
            <a:ext cx="5448300" cy="857250"/>
          </a:xfrm>
          <a:custGeom>
            <a:avLst/>
            <a:gdLst/>
            <a:ahLst/>
            <a:cxnLst/>
            <a:rect l="l" t="t" r="r" b="b"/>
            <a:pathLst>
              <a:path w="5448300" h="857250">
                <a:moveTo>
                  <a:pt x="0" y="0"/>
                </a:moveTo>
                <a:lnTo>
                  <a:pt x="5448300" y="0"/>
                </a:lnTo>
                <a:lnTo>
                  <a:pt x="5448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76272" y="4312158"/>
            <a:ext cx="272491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sz="2017" b="1">
                <a:solidFill>
                  <a:srgbClr val="1E325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Una sola puntuación</a:t>
            </a:r>
          </a:p>
        </p:txBody>
      </p:sp>
      <p:sp>
        <p:nvSpPr>
          <p:cNvPr id="7" name="Freeform 7"/>
          <p:cNvSpPr/>
          <p:nvPr/>
        </p:nvSpPr>
        <p:spPr>
          <a:xfrm>
            <a:off x="1733550" y="4714875"/>
            <a:ext cx="3495675" cy="1504950"/>
          </a:xfrm>
          <a:custGeom>
            <a:avLst/>
            <a:gdLst/>
            <a:ahLst/>
            <a:cxnLst/>
            <a:rect l="l" t="t" r="r" b="b"/>
            <a:pathLst>
              <a:path w="3495675" h="1504950">
                <a:moveTo>
                  <a:pt x="0" y="0"/>
                </a:moveTo>
                <a:lnTo>
                  <a:pt x="3495675" y="0"/>
                </a:lnTo>
                <a:lnTo>
                  <a:pt x="3495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5850" y="6000750"/>
            <a:ext cx="1533525" cy="1076325"/>
          </a:xfrm>
          <a:custGeom>
            <a:avLst/>
            <a:gdLst/>
            <a:ahLst/>
            <a:cxnLst/>
            <a:rect l="l" t="t" r="r" b="b"/>
            <a:pathLst>
              <a:path w="1533525" h="10763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43584" y="6355270"/>
            <a:ext cx="138988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2195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Promotor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09850" y="6000750"/>
            <a:ext cx="1533525" cy="1076325"/>
          </a:xfrm>
          <a:custGeom>
            <a:avLst/>
            <a:gdLst/>
            <a:ahLst/>
            <a:cxnLst/>
            <a:rect l="l" t="t" r="r" b="b"/>
            <a:pathLst>
              <a:path w="1533525" h="10763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133850" y="6000750"/>
            <a:ext cx="1752600" cy="1076325"/>
          </a:xfrm>
          <a:custGeom>
            <a:avLst/>
            <a:gdLst/>
            <a:ahLst/>
            <a:cxnLst/>
            <a:rect l="l" t="t" r="r" b="b"/>
            <a:pathLst>
              <a:path w="1752600" h="1076325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743700" y="3000375"/>
            <a:ext cx="10677525" cy="4933950"/>
          </a:xfrm>
          <a:custGeom>
            <a:avLst/>
            <a:gdLst/>
            <a:ahLst/>
            <a:cxnLst/>
            <a:rect l="l" t="t" r="r" b="b"/>
            <a:pathLst>
              <a:path w="10677525" h="4933950">
                <a:moveTo>
                  <a:pt x="0" y="0"/>
                </a:moveTo>
                <a:lnTo>
                  <a:pt x="10677525" y="0"/>
                </a:lnTo>
                <a:lnTo>
                  <a:pt x="106775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743700" y="3000375"/>
            <a:ext cx="10677525" cy="857250"/>
          </a:xfrm>
          <a:custGeom>
            <a:avLst/>
            <a:gdLst/>
            <a:ahLst/>
            <a:cxnLst/>
            <a:rect l="l" t="t" r="r" b="b"/>
            <a:pathLst>
              <a:path w="10677525" h="857250">
                <a:moveTo>
                  <a:pt x="0" y="0"/>
                </a:moveTo>
                <a:lnTo>
                  <a:pt x="10677525" y="0"/>
                </a:lnTo>
                <a:lnTo>
                  <a:pt x="106775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962775" y="4067175"/>
            <a:ext cx="1752600" cy="1295400"/>
          </a:xfrm>
          <a:custGeom>
            <a:avLst/>
            <a:gdLst/>
            <a:ahLst/>
            <a:cxnLst/>
            <a:rect l="l" t="t" r="r" b="b"/>
            <a:pathLst>
              <a:path w="1752600" h="12954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168896" y="4535043"/>
            <a:ext cx="138988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1E325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Perfil académico</a:t>
            </a:r>
          </a:p>
        </p:txBody>
      </p:sp>
      <p:sp>
        <p:nvSpPr>
          <p:cNvPr id="16" name="Freeform 16"/>
          <p:cNvSpPr/>
          <p:nvPr/>
        </p:nvSpPr>
        <p:spPr>
          <a:xfrm>
            <a:off x="8705850" y="4067175"/>
            <a:ext cx="1752600" cy="1295400"/>
          </a:xfrm>
          <a:custGeom>
            <a:avLst/>
            <a:gdLst/>
            <a:ahLst/>
            <a:cxnLst/>
            <a:rect l="l" t="t" r="r" b="b"/>
            <a:pathLst>
              <a:path w="1752600" h="12954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835009" y="4554093"/>
            <a:ext cx="138988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1E325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Experiencia universitaria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448925" y="4067175"/>
            <a:ext cx="1743075" cy="1295400"/>
          </a:xfrm>
          <a:custGeom>
            <a:avLst/>
            <a:gdLst/>
            <a:ahLst/>
            <a:cxnLst/>
            <a:rect l="l" t="t" r="r" b="b"/>
            <a:pathLst>
              <a:path w="1743075" h="1295400">
                <a:moveTo>
                  <a:pt x="0" y="0"/>
                </a:moveTo>
                <a:lnTo>
                  <a:pt x="1743075" y="0"/>
                </a:lnTo>
                <a:lnTo>
                  <a:pt x="1743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561320" y="4554093"/>
            <a:ext cx="138988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1E325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Condiciones económicas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2192000" y="4067175"/>
            <a:ext cx="1743075" cy="1295400"/>
          </a:xfrm>
          <a:custGeom>
            <a:avLst/>
            <a:gdLst/>
            <a:ahLst/>
            <a:cxnLst/>
            <a:rect l="l" t="t" r="r" b="b"/>
            <a:pathLst>
              <a:path w="1743075" h="1295400">
                <a:moveTo>
                  <a:pt x="0" y="0"/>
                </a:moveTo>
                <a:lnTo>
                  <a:pt x="1743075" y="0"/>
                </a:lnTo>
                <a:lnTo>
                  <a:pt x="1743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297537" y="4535043"/>
            <a:ext cx="138988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1E325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Situación laboral</a:t>
            </a:r>
          </a:p>
        </p:txBody>
      </p:sp>
      <p:sp>
        <p:nvSpPr>
          <p:cNvPr id="22" name="Freeform 22"/>
          <p:cNvSpPr/>
          <p:nvPr/>
        </p:nvSpPr>
        <p:spPr>
          <a:xfrm>
            <a:off x="13925550" y="4067175"/>
            <a:ext cx="1533525" cy="1295400"/>
          </a:xfrm>
          <a:custGeom>
            <a:avLst/>
            <a:gdLst/>
            <a:ahLst/>
            <a:cxnLst/>
            <a:rect l="l" t="t" r="r" b="b"/>
            <a:pathLst>
              <a:path w="1533525" h="1295400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008608" y="4535043"/>
            <a:ext cx="138988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1E325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Percepción institucional</a:t>
            </a:r>
          </a:p>
        </p:txBody>
      </p:sp>
      <p:sp>
        <p:nvSpPr>
          <p:cNvPr id="24" name="Freeform 24"/>
          <p:cNvSpPr/>
          <p:nvPr/>
        </p:nvSpPr>
        <p:spPr>
          <a:xfrm>
            <a:off x="15449550" y="4067175"/>
            <a:ext cx="1752600" cy="1295400"/>
          </a:xfrm>
          <a:custGeom>
            <a:avLst/>
            <a:gdLst/>
            <a:ahLst/>
            <a:cxnLst/>
            <a:rect l="l" t="t" r="r" b="b"/>
            <a:pathLst>
              <a:path w="1752600" h="12954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620000" y="5143500"/>
            <a:ext cx="8934450" cy="857250"/>
          </a:xfrm>
          <a:custGeom>
            <a:avLst/>
            <a:gdLst/>
            <a:ahLst/>
            <a:cxnLst/>
            <a:rect l="l" t="t" r="r" b="b"/>
            <a:pathLst>
              <a:path w="8934450" h="857250">
                <a:moveTo>
                  <a:pt x="0" y="0"/>
                </a:moveTo>
                <a:lnTo>
                  <a:pt x="8934450" y="0"/>
                </a:lnTo>
                <a:lnTo>
                  <a:pt x="89344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753850" y="5781675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353550" y="6429375"/>
            <a:ext cx="5238750" cy="1076325"/>
          </a:xfrm>
          <a:custGeom>
            <a:avLst/>
            <a:gdLst/>
            <a:ahLst/>
            <a:cxnLst/>
            <a:rect l="l" t="t" r="r" b="b"/>
            <a:pathLst>
              <a:path w="5238750" h="1076325">
                <a:moveTo>
                  <a:pt x="0" y="0"/>
                </a:moveTo>
                <a:lnTo>
                  <a:pt x="5238750" y="0"/>
                </a:lnTo>
                <a:lnTo>
                  <a:pt x="5238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9491472" y="6871526"/>
            <a:ext cx="491947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2526" b="1">
                <a:solidFill>
                  <a:srgbClr val="00C2C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PERFILES DE ESTUDIANTES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26080" y="8291091"/>
            <a:ext cx="12435840" cy="115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4"/>
              </a:lnSpc>
            </a:pPr>
            <a:r>
              <a:rPr lang="en-US" sz="4180" b="1" spc="-175">
                <a:solidFill>
                  <a:srgbClr val="1E325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¿Qué nos cuentan </a:t>
            </a:r>
            <a:r>
              <a:rPr lang="en-US" sz="4180" b="1" spc="-175">
                <a:solidFill>
                  <a:srgbClr val="00C2C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los datos</a:t>
            </a:r>
            <a:r>
              <a:rPr lang="en-US" sz="4180" b="1" spc="-175">
                <a:solidFill>
                  <a:srgbClr val="1E325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sobre los estudiantes que una sola puntuación no alcanza a mostrar?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697200" y="4649343"/>
            <a:ext cx="1389888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1E325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Permanencia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779776" y="6355270"/>
            <a:ext cx="138988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Pasivo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97680" y="6355270"/>
            <a:ext cx="155448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Detractor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12864" y="3191256"/>
            <a:ext cx="1031443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8"/>
              </a:lnSpc>
            </a:pPr>
            <a:r>
              <a:rPr lang="en-US" sz="3790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UNA MIRADA MULTIDIMENSIONAL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7552" y="3191256"/>
            <a:ext cx="513892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8"/>
              </a:lnSpc>
            </a:pPr>
            <a:r>
              <a:rPr lang="en-US" sz="3790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NPS TRADICIONAL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312</Words>
  <Application>Microsoft Office PowerPoint</Application>
  <PresentationFormat>Personalizado</PresentationFormat>
  <Paragraphs>113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7" baseType="lpstr">
      <vt:lpstr>Montaser Arabic Semi-Bold</vt:lpstr>
      <vt:lpstr>DM Sans Bold</vt:lpstr>
      <vt:lpstr>Montaser Arabic Bold</vt:lpstr>
      <vt:lpstr>Arial</vt:lpstr>
      <vt:lpstr>Montaser Arabic Medium</vt:lpstr>
      <vt:lpstr>DM Sans</vt:lpstr>
      <vt:lpstr>Montaser Arabic Heavy</vt:lpstr>
      <vt:lpstr>Calibri</vt:lpstr>
      <vt:lpstr>Montaser Arabic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Detractores</dc:title>
  <cp:lastModifiedBy>YIRLEIDIS ANDREA MARQUEZ CORTES</cp:lastModifiedBy>
  <cp:revision>2</cp:revision>
  <dcterms:created xsi:type="dcterms:W3CDTF">2006-08-16T00:00:00Z</dcterms:created>
  <dcterms:modified xsi:type="dcterms:W3CDTF">2026-08-25T15:44:35Z</dcterms:modified>
  <dc:identifier>DAHTT5L0brY</dc:identifier>
</cp:coreProperties>
</file>